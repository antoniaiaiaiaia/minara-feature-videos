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c7f4c03173488c" /><Relationship Type="http://schemas.openxmlformats.org/officeDocument/2006/relationships/extended-properties" Target="/docProps/app.xml" Id="Re530951b84ef4174" /><Relationship Type="http://schemas.openxmlformats.org/officeDocument/2006/relationships/officeDocument" Target="/ppt/presentation.xml" Id="R7de1f7e2639d4c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8403120c0495f"/>
  </p:sldMasterIdLst>
  <p:notesMasterIdLst>
    <p:notesMasterId xmlns:r="http://schemas.openxmlformats.org/officeDocument/2006/relationships" r:id="R332869b626d047aa"/>
  </p:notesMasterIdLst>
  <p:sldIdLst>
    <p:sldId xmlns:r="http://schemas.openxmlformats.org/officeDocument/2006/relationships" id="256" r:id="Rf037520a8cf944b1"/>
    <p:sldId xmlns:r="http://schemas.openxmlformats.org/officeDocument/2006/relationships" id="257" r:id="Rc8cff1ed5d094aa5"/>
    <p:sldId xmlns:r="http://schemas.openxmlformats.org/officeDocument/2006/relationships" id="258" r:id="R55fc29a1b56f4a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613445ebc84d13" /><Relationship Type="http://schemas.openxmlformats.org/officeDocument/2006/relationships/slideMaster" Target="/ppt/slideMasters/slideMaster1.xml" Id="Rf778403120c0495f" /><Relationship Type="http://schemas.openxmlformats.org/officeDocument/2006/relationships/notesMaster" Target="/ppt/notesMasters/notesMaster1.xml" Id="R332869b626d047aa" /><Relationship Type="http://schemas.openxmlformats.org/officeDocument/2006/relationships/presProps" Target="/ppt/presProps.xml" Id="R90208cea559341a2" /><Relationship Type="http://schemas.openxmlformats.org/officeDocument/2006/relationships/tableStyles" Target="/ppt/tableStyles.xml" Id="R93e3c16e2cf8486a" /><Relationship Type="http://schemas.openxmlformats.org/officeDocument/2006/relationships/slide" Target="/ppt/slides/slide1.xml" Id="Rf037520a8cf944b1" /><Relationship Type="http://schemas.openxmlformats.org/officeDocument/2006/relationships/slide" Target="/ppt/slides/slide2.xml" Id="Rc8cff1ed5d094aa5" /><Relationship Type="http://schemas.openxmlformats.org/officeDocument/2006/relationships/slide" Target="/ppt/slides/slide3.xml" Id="R55fc29a1b56f4a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f8eef557484b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f0620fae5e48c3" /><Relationship Type="http://schemas.openxmlformats.org/officeDocument/2006/relationships/notesMaster" Target="/ppt/notesMasters/notesMaster1.xml" Id="R69691c58fb764d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59adfa9d2b435e" /><Relationship Type="http://schemas.openxmlformats.org/officeDocument/2006/relationships/notesMaster" Target="/ppt/notesMasters/notesMaster1.xml" Id="Rfdedf709098546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e217182a274854" /><Relationship Type="http://schemas.openxmlformats.org/officeDocument/2006/relationships/notesMaster" Target="/ppt/notesMasters/notesMaster1.xml" Id="Rda944645644444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https://investor.nvidia.com/news/press-release-details/2026/NVIDIA-Announces-Financial-Results-for-Fourth-Quarter-and-Fiscal-2026/default.aspx</a:t>
            </a:r>
          </a:p>
          <a:p xmlns:a="http://schemas.openxmlformats.org/drawingml/2006/main">
            <a:r>
              <a:t>https://d18rn0p25nwr6d.cloudfront.net/CIK-0001045810/e361e58a-7483-44f5-bc62-a9080ae6ec72.pdf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https://investor.nvidia.com/news/press-release-details/2026/NVIDIA-Announces-Financial-Results-for-Fourth-Quarter-and-Fiscal-2026/default.aspx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https://d18rn0p25nwr6d.cloudfront.net/CIK-0001045810/e361e58a-7483-44f5-bc62-a9080ae6ec72.pdf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b756d138f47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52ec338bd74bc4" /><Relationship Type="http://schemas.openxmlformats.org/officeDocument/2006/relationships/slideLayout" Target="/ppt/slideLayouts/slideLayout1.xml" Id="R116ae5017bf44b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6ae5017bf44b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e39f736e14f0d" /><Relationship Type="http://schemas.openxmlformats.org/officeDocument/2006/relationships/notesSlide" Target="/ppt/notesSlides/notesSlide1.xml" Id="R088f0d5e890c42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8f44fcb4d430b" /><Relationship Type="http://schemas.openxmlformats.org/officeDocument/2006/relationships/notesSlide" Target="/ppt/notesSlides/notesSlide2.xml" Id="R6d4b7d773d2c45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6d9f44490451f" /><Relationship Type="http://schemas.openxmlformats.org/officeDocument/2006/relationships/notesSlide" Target="/ppt/notesSlides/notesSlide3.xml" Id="R085fa6e2eccd4c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1AEFDF-456B-4932-920C-19F4FEEB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1200" b="1" spc="2">
                <a:solidFill>
                  <a:srgbClr val="15171A"/>
                </a:solidFill>
                <a:latin typeface="Geist"/>
                <a:ea typeface="Geist"/>
                <a:cs typeface="Geist"/>
              </a:rPr>
              <a:t>NVIDIA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71704-0989-4F6D-8A2A-C37FCDC1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spc="1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975" spc="1">
                <a:solidFill>
                  <a:srgbClr val="6F6F78"/>
                </a:solidFill>
                <a:latin typeface="Geist"/>
                <a:ea typeface="Geist"/>
                <a:cs typeface="Geist"/>
              </a:rPr>
              <a:t>FY2026 FINANCIAL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E1938-4E85-47B0-B050-C896189E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3300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FY2026 earnings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470F8-DCC2-4174-9B40-AF178B3F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620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275">
                <a:solidFill>
                  <a:srgbClr val="6F6F78"/>
                </a:solidFill>
                <a:latin typeface="Geist"/>
                <a:ea typeface="Geist"/>
                <a:cs typeface="Geist"/>
              </a:rPr>
              <a:t>Fiscal year ended January 25,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6A49E-EC7C-487F-B546-EFD8F059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B8694-C43D-4C82-B429-68A871E7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125">
                <a:solidFill>
                  <a:srgbClr val="6F6F78"/>
                </a:solidFill>
                <a:latin typeface="Geist"/>
                <a:ea typeface="Geist"/>
                <a:cs typeface="Geist"/>
              </a:rPr>
              <a:t>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572E7-16C4-4D49-A073-0C75E599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764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2400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$215.9B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2F5E2-E241-4F14-BC84-44FBAE77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AB56A"/>
                </a:solidFill>
                <a:latin typeface="Geist"/>
                <a:ea typeface="Geist"/>
                <a:cs typeface="Geist"/>
              </a:defRPr>
            </a:pPr>
            <a:r>
              <a:rPr sz="1125">
                <a:solidFill>
                  <a:srgbClr val="0AB56A"/>
                </a:solidFill>
                <a:latin typeface="Geist"/>
                <a:ea typeface="Geist"/>
                <a:cs typeface="Geist"/>
              </a:rPr>
              <a:t>+65% year over year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08CF0-7122-4418-876D-E66CE979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1952625"/>
            <a:ext cx="95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82D3D-FF31-4085-906B-DE449CFC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913" y="2000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125">
                <a:solidFill>
                  <a:srgbClr val="6F6F78"/>
                </a:solidFill>
                <a:latin typeface="Geist"/>
                <a:ea typeface="Geist"/>
                <a:cs typeface="Geist"/>
              </a:rPr>
              <a:t>Data Center revenue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3A0DE-8C5D-4D51-859B-0910B3D4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913" y="22764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2400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$193.7B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A80C9-CDED-460C-AABE-AAE4C9A0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913" y="26955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AB56A"/>
                </a:solidFill>
                <a:latin typeface="Geist"/>
                <a:ea typeface="Geist"/>
                <a:cs typeface="Geist"/>
              </a:defRPr>
            </a:pPr>
            <a:r>
              <a:rPr sz="1125">
                <a:solidFill>
                  <a:srgbClr val="0AB56A"/>
                </a:solidFill>
                <a:latin typeface="Geist"/>
                <a:ea typeface="Geist"/>
                <a:cs typeface="Geist"/>
              </a:rPr>
              <a:t>+68% year over year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79DD4-EC07-482D-9215-4833AA20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95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96EFF-FE09-428E-A5DC-3DBA86C1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00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125">
                <a:solidFill>
                  <a:srgbClr val="6F6F78"/>
                </a:solidFill>
                <a:latin typeface="Geist"/>
                <a:ea typeface="Geist"/>
                <a:cs typeface="Geist"/>
              </a:rPr>
              <a:t>GAAP net income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23D28-ECB7-4E5F-ACC9-2798D26F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2764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2400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$120.1B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E1F43-081F-4D79-B314-0F40EFEA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955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AB56A"/>
                </a:solidFill>
                <a:latin typeface="Geist"/>
                <a:ea typeface="Geist"/>
                <a:cs typeface="Geist"/>
              </a:defRPr>
            </a:pPr>
            <a:r>
              <a:rPr sz="1125">
                <a:solidFill>
                  <a:srgbClr val="0AB56A"/>
                </a:solidFill>
                <a:latin typeface="Geist"/>
                <a:ea typeface="Geist"/>
                <a:cs typeface="Geist"/>
              </a:rPr>
              <a:t>+65% year over year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14985-3EE7-4D11-9F16-A3A6CCD6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454CF-CA8E-407B-8C44-EB3B81CE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1275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Revenue, $ billions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655D2-B112-478A-BA99-9604DAAC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050">
                <a:solidFill>
                  <a:srgbClr val="6F6F78"/>
                </a:solidFill>
                <a:latin typeface="Geist"/>
                <a:ea typeface="Geist"/>
                <a:cs typeface="Geist"/>
              </a:rPr>
              <a:t>FY2025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5DE6E-6DF5-4EC4-B942-CA8486EB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230294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DF3DF-F1C5-4FB2-AD70-74944954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10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1125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130.5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20AC1-1C4D-4AF0-9147-A64DEA46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050">
                <a:solidFill>
                  <a:srgbClr val="6F6F78"/>
                </a:solidFill>
                <a:latin typeface="Geist"/>
                <a:ea typeface="Geist"/>
                <a:cs typeface="Geist"/>
              </a:rPr>
              <a:t>FY2026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A5A72D-2801-4D61-8CA1-D25C9B5B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29125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C53CA2-38F0-48F0-A6D1-82B50909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438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1125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215.9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88C3E-BF75-4CA5-A288-0F641A2E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1650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AI infrastructure drives growth.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FF7CB3-9767-4D7C-8C1C-2171A775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500">
                <a:solidFill>
                  <a:srgbClr val="6F6F78"/>
                </a:solidFill>
                <a:latin typeface="Geist"/>
                <a:ea typeface="Geist"/>
                <a:cs typeface="Geist"/>
              </a:rPr>
              <a:t>Data Center contributed 90% of annual revenue as Blackwell demand expanded.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56E73C-C667-4F2E-BABD-84A2C429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4B647B-2397-457A-909B-69E7E737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A8A92"/>
                </a:solidFill>
                <a:latin typeface="Geist"/>
                <a:ea typeface="Geist"/>
                <a:cs typeface="Geist"/>
              </a:defRPr>
            </a:pPr>
            <a:r>
              <a:rPr sz="825">
                <a:solidFill>
                  <a:srgbClr val="8A8A92"/>
                </a:solidFill>
                <a:latin typeface="Geist"/>
                <a:ea typeface="Geist"/>
                <a:cs typeface="Geist"/>
              </a:rPr>
              <a:t>NVIDIA Investor Relations · FY2026 ended Jan 25, 2026 · GAAP unless labeled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D506E7-13C8-4D23-AF74-2BF5A71D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151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A8A92"/>
                </a:solidFill>
                <a:latin typeface="Geist"/>
                <a:ea typeface="Geist"/>
                <a:cs typeface="Geist"/>
              </a:defRPr>
            </a:pPr>
            <a:r>
              <a:rPr sz="825">
                <a:solidFill>
                  <a:srgbClr val="8A8A92"/>
                </a:solidFill>
                <a:latin typeface="Geist"/>
                <a:ea typeface="Geist"/>
                <a:cs typeface="Geis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4963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B092F-5460-4795-A207-74ECCBBE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1200" b="1" spc="2">
                <a:solidFill>
                  <a:srgbClr val="15171A"/>
                </a:solidFill>
                <a:latin typeface="Geist"/>
                <a:ea typeface="Geist"/>
                <a:cs typeface="Geist"/>
              </a:rPr>
              <a:t>NVIDIA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7B02D-D9A6-4381-90E0-6243EBA6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spc="1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975" spc="1">
                <a:solidFill>
                  <a:srgbClr val="6F6F78"/>
                </a:solidFill>
                <a:latin typeface="Geist"/>
                <a:ea typeface="Geist"/>
                <a:cs typeface="Geist"/>
              </a:rPr>
              <a:t>FY2026 FINANCIAL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4B145-0304-43B5-95DC-F5E2544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3300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Growth drivers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1804E-5D90-46B5-B0CD-D2CFD31F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620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275">
                <a:solidFill>
                  <a:srgbClr val="6F6F78"/>
                </a:solidFill>
                <a:latin typeface="Geist"/>
                <a:ea typeface="Geist"/>
                <a:cs typeface="Geist"/>
              </a:rPr>
              <a:t>The financial story behind the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13827-BEFF-4192-8C7E-4AD6147E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FAF4C-BD90-4F16-BCCB-99687336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A92"/>
                </a:solidFill>
                <a:latin typeface="Geist"/>
                <a:ea typeface="Geist"/>
                <a:cs typeface="Geist"/>
              </a:defRPr>
            </a:pPr>
            <a:r>
              <a:rPr sz="1125">
                <a:solidFill>
                  <a:srgbClr val="8A8A92"/>
                </a:solidFill>
                <a:latin typeface="Geist"/>
                <a:ea typeface="Geist"/>
                <a:cs typeface="Geis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02ADB-0FF1-4DE6-BD65-2CBA0D87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1800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Data Center sets the pace.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5C583-08E7-4443-9B66-DE33BFBC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275">
                <a:solidFill>
                  <a:srgbClr val="6F6F78"/>
                </a:solidFill>
                <a:latin typeface="Geist"/>
                <a:ea typeface="Geist"/>
                <a:cs typeface="Geist"/>
              </a:rPr>
              <a:t>Revenue reached $193.7B, up 68% from FY2025.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0AD5D-FE3D-41F0-A907-C220C2FD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594CF-74F6-4A08-90FF-05B1B085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A92"/>
                </a:solidFill>
                <a:latin typeface="Geist"/>
                <a:ea typeface="Geist"/>
                <a:cs typeface="Geist"/>
              </a:defRPr>
            </a:pPr>
            <a:r>
              <a:rPr sz="1125">
                <a:solidFill>
                  <a:srgbClr val="8A8A92"/>
                </a:solidFill>
                <a:latin typeface="Geist"/>
                <a:ea typeface="Geist"/>
                <a:cs typeface="Geis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EB7A1-01DA-4E0D-9178-7381D7DD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575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1800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Blackwell demand scales.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08312-26D3-46E1-9247-167C92E6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042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275">
                <a:solidFill>
                  <a:srgbClr val="6F6F78"/>
                </a:solidFill>
                <a:latin typeface="Geist"/>
                <a:ea typeface="Geist"/>
                <a:cs typeface="Geist"/>
              </a:rPr>
              <a:t>Accelerated computing and AI infrastructure investment support growth.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6EDD7-670A-4206-BFAD-BF58F1E4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A0F83-B9B3-4E16-9B42-4D0BFD2B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00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A92"/>
                </a:solidFill>
                <a:latin typeface="Geist"/>
                <a:ea typeface="Geist"/>
                <a:cs typeface="Geist"/>
              </a:defRPr>
            </a:pPr>
            <a:r>
              <a:rPr sz="1125">
                <a:solidFill>
                  <a:srgbClr val="8A8A92"/>
                </a:solidFill>
                <a:latin typeface="Geist"/>
                <a:ea typeface="Geist"/>
                <a:cs typeface="Geis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770A1-80DB-46BD-966B-5DBF1292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1800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Strong finish to the year.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52348-C567-48D3-9C80-A65B0B7A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275">
                <a:solidFill>
                  <a:srgbClr val="6F6F78"/>
                </a:solidFill>
                <a:latin typeface="Geist"/>
                <a:ea typeface="Geist"/>
                <a:cs typeface="Geist"/>
              </a:rPr>
              <a:t>Fourth-quarter revenue reached $68.1B, up 73% year over year.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68EDC-C7D4-4456-9264-EBFA4CDC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25E25-E6CC-4026-959B-FC535AF8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A8A92"/>
                </a:solidFill>
                <a:latin typeface="Geist"/>
                <a:ea typeface="Geist"/>
                <a:cs typeface="Geist"/>
              </a:defRPr>
            </a:pPr>
            <a:r>
              <a:rPr sz="825">
                <a:solidFill>
                  <a:srgbClr val="8A8A92"/>
                </a:solidFill>
                <a:latin typeface="Geist"/>
                <a:ea typeface="Geist"/>
                <a:cs typeface="Geist"/>
              </a:rPr>
              <a:t>NVIDIA Investor Relations · FY2026 ended Jan 25, 2026 · GAAP unless labeled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B6704-A349-4AD0-BF4E-27B00E03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151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A8A92"/>
                </a:solidFill>
                <a:latin typeface="Geist"/>
                <a:ea typeface="Geist"/>
                <a:cs typeface="Geist"/>
              </a:defRPr>
            </a:pPr>
            <a:r>
              <a:rPr sz="825">
                <a:solidFill>
                  <a:srgbClr val="8A8A92"/>
                </a:solidFill>
                <a:latin typeface="Geist"/>
                <a:ea typeface="Geist"/>
                <a:cs typeface="Geis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9759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C6678-5234-47DB-AA8D-A6C673F8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1200" b="1" spc="2">
                <a:solidFill>
                  <a:srgbClr val="15171A"/>
                </a:solidFill>
                <a:latin typeface="Geist"/>
                <a:ea typeface="Geist"/>
                <a:cs typeface="Geist"/>
              </a:rPr>
              <a:t>NVIDIA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DC280-63BF-418D-9AF4-E8F0C6CE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spc="1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975" spc="1">
                <a:solidFill>
                  <a:srgbClr val="6F6F78"/>
                </a:solidFill>
                <a:latin typeface="Geist"/>
                <a:ea typeface="Geist"/>
                <a:cs typeface="Geist"/>
              </a:rPr>
              <a:t>FY2026 FINANCIAL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577F8-94C9-4600-ABCE-C31DDB7C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3300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What to 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47B92-1387-4EFD-8B4E-447F22C8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620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275">
                <a:solidFill>
                  <a:srgbClr val="6F6F78"/>
                </a:solidFill>
                <a:latin typeface="Geist"/>
                <a:ea typeface="Geist"/>
                <a:cs typeface="Geist"/>
              </a:rPr>
              <a:t>Key risks and the next reporting period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AED9B-975F-4F87-A9B0-A87A447D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B56BD-FE68-4282-B8E3-DAE3165B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A92"/>
                </a:solidFill>
                <a:latin typeface="Geist"/>
                <a:ea typeface="Geist"/>
                <a:cs typeface="Geist"/>
              </a:defRPr>
            </a:pPr>
            <a:r>
              <a:rPr sz="1125">
                <a:solidFill>
                  <a:srgbClr val="8A8A92"/>
                </a:solidFill>
                <a:latin typeface="Geist"/>
                <a:ea typeface="Geist"/>
                <a:cs typeface="Geis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3B6EC-7E2F-429F-985E-A51A373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1800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Export restrictions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96C37-A7FD-4E4E-A6CB-63818911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275">
                <a:solidFill>
                  <a:srgbClr val="6F6F78"/>
                </a:solidFill>
                <a:latin typeface="Geist"/>
                <a:ea typeface="Geist"/>
                <a:cs typeface="Geist"/>
              </a:rPr>
              <a:t>China market access remains a constraint on Data Center sales.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4AD0B-748D-431A-9445-12DECE0D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8F474-A149-415B-84C4-5FA788A8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A92"/>
                </a:solidFill>
                <a:latin typeface="Geist"/>
                <a:ea typeface="Geist"/>
                <a:cs typeface="Geist"/>
              </a:defRPr>
            </a:pPr>
            <a:r>
              <a:rPr sz="1125">
                <a:solidFill>
                  <a:srgbClr val="8A8A92"/>
                </a:solidFill>
                <a:latin typeface="Geist"/>
                <a:ea typeface="Geist"/>
                <a:cs typeface="Geis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6F88E-7024-4BDD-B2E4-2207FA13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575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1800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Margins and product transitions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1D35F-AADA-4FA0-954F-6F0246BB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042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275">
                <a:solidFill>
                  <a:srgbClr val="6F6F78"/>
                </a:solidFill>
                <a:latin typeface="Geist"/>
                <a:ea typeface="Geist"/>
                <a:cs typeface="Geist"/>
              </a:rPr>
              <a:t>Track system ramps, product mix and the cost of scaling supply.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AB34F-2DF6-4829-B411-F1E2B839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98BBA-4515-44BB-BF8D-9C9E3416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00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A92"/>
                </a:solidFill>
                <a:latin typeface="Geist"/>
                <a:ea typeface="Geist"/>
                <a:cs typeface="Geist"/>
              </a:defRPr>
            </a:pPr>
            <a:r>
              <a:rPr sz="1125">
                <a:solidFill>
                  <a:srgbClr val="8A8A92"/>
                </a:solidFill>
                <a:latin typeface="Geist"/>
                <a:ea typeface="Geist"/>
                <a:cs typeface="Geis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CDD76-F31A-40D9-BB54-9534B11F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  <a:latin typeface="Geist"/>
                <a:ea typeface="Geist"/>
                <a:cs typeface="Geist"/>
              </a:defRPr>
            </a:pPr>
            <a:r>
              <a:rPr sz="1800" b="1">
                <a:solidFill>
                  <a:srgbClr val="15171A"/>
                </a:solidFill>
                <a:latin typeface="Geist"/>
                <a:ea typeface="Geist"/>
                <a:cs typeface="Geist"/>
              </a:rPr>
              <a:t>Demand concentration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AC3EE-39A2-4CB8-857D-620821B2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78"/>
                </a:solidFill>
                <a:latin typeface="Geist"/>
                <a:ea typeface="Geist"/>
                <a:cs typeface="Geist"/>
              </a:defRPr>
            </a:pPr>
            <a:r>
              <a:rPr sz="1275">
                <a:solidFill>
                  <a:srgbClr val="6F6F78"/>
                </a:solidFill>
                <a:latin typeface="Geist"/>
                <a:ea typeface="Geist"/>
                <a:cs typeface="Geist"/>
              </a:rPr>
              <a:t>Monitor hyperscaler spending and the durability of AI investment.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7029E-B8AB-4506-B85D-8B0F5E07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A49CD-AE66-4B6C-B50E-3A9713B2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A8A92"/>
                </a:solidFill>
                <a:latin typeface="Geist"/>
                <a:ea typeface="Geist"/>
                <a:cs typeface="Geist"/>
              </a:defRPr>
            </a:pPr>
            <a:r>
              <a:rPr sz="825">
                <a:solidFill>
                  <a:srgbClr val="8A8A92"/>
                </a:solidFill>
                <a:latin typeface="Geist"/>
                <a:ea typeface="Geist"/>
                <a:cs typeface="Geist"/>
              </a:rPr>
              <a:t>NVIDIA Investor Relations · FY2026 ended Jan 25, 2026 · GAAP unless labeled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30639-015E-4505-9E04-9F337B16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151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8A8A92"/>
                </a:solidFill>
                <a:latin typeface="Geist"/>
                <a:ea typeface="Geist"/>
                <a:cs typeface="Geist"/>
              </a:defRPr>
            </a:pPr>
            <a:r>
              <a:rPr sz="825">
                <a:solidFill>
                  <a:srgbClr val="8A8A92"/>
                </a:solidFill>
                <a:latin typeface="Geist"/>
                <a:ea typeface="Geist"/>
                <a:cs typeface="Geis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7297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2026-09-06T16:36:57.5300000Z</dcterms:created>
  <dcterms:modified xsi:type="dcterms:W3CDTF">2026-09-06T16:36:57.5300000Z</dcterms:modified>
</coreProperties>
</file>